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8" r:id="rId4"/>
    <p:sldId id="268" r:id="rId5"/>
    <p:sldId id="260" r:id="rId6"/>
    <p:sldId id="262" r:id="rId7"/>
    <p:sldId id="267" r:id="rId8"/>
    <p:sldId id="263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5E7E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5E7EB"/>
                </a:solidFill>
                <a:latin typeface="Arial"/>
              </a:rPr>
              <a:t>% of Children Meeting MVPA Guidelines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Active (MVPA)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404-411F-A7D7-44A816C6055B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04-411F-A7D7-44A816C6055B}"/>
              </c:ext>
            </c:extLst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404-411F-A7D7-44A816C6055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9FAF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Control group</c:v>
                </c:pt>
                <c:pt idx="1">
                  <c:v>Gamification group</c:v>
                </c:pt>
                <c:pt idx="2">
                  <c:v>Exergame group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34</c:v>
                </c:pt>
                <c:pt idx="2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404-411F-A7D7-44A816C605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F29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123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72658-74F8-A83A-02F5-235260325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8AF1C-65A1-A5DA-381B-B3453E23D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E4D94-C5EE-D14C-8C73-2E7F76FA5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BBA5A-277C-5E01-7F8A-F16F3FF934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55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F022F-4AAF-2C57-1ADC-3CF27192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D1F19-4BC2-7D83-EA71-0CBA03CB7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36A79-4168-8796-8958-12D61FFC9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5B4B1-AE8F-F79F-E367-D41552D4B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44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B92971-AAD2-FC2E-1FDB-AB9EB6A4D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FC873D-CCA5-BEAB-D3F4-B553C244CE62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C17158-0A7E-7E2E-8C62-DDC5FF1636D3}"/>
              </a:ext>
            </a:extLst>
          </p:cNvPr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VRIDER · HACKATHON 2026 · OPENING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139F6B-81D5-CAA9-9300-8474A5ED2FE6}"/>
              </a:ext>
            </a:extLst>
          </p:cNvPr>
          <p:cNvSpPr/>
          <p:nvPr/>
        </p:nvSpPr>
        <p:spPr>
          <a:xfrm>
            <a:off x="713232" y="1267688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VRider</a:t>
            </a:r>
            <a:endParaRPr lang="en-US" sz="8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FF0B843-62B3-F821-F4B0-2A8E210401D9}"/>
              </a:ext>
            </a:extLst>
          </p:cNvPr>
          <p:cNvSpPr/>
          <p:nvPr/>
        </p:nvSpPr>
        <p:spPr>
          <a:xfrm>
            <a:off x="486017" y="1385106"/>
            <a:ext cx="5173565" cy="1593965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32E451-AB3B-3A89-D02F-72CBE46DB9F7}"/>
              </a:ext>
            </a:extLst>
          </p:cNvPr>
          <p:cNvSpPr txBox="1"/>
          <p:nvPr/>
        </p:nvSpPr>
        <p:spPr>
          <a:xfrm>
            <a:off x="6929914" y="2979071"/>
            <a:ext cx="20062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Dancea Andreea</a:t>
            </a:r>
          </a:p>
          <a:p>
            <a:r>
              <a:rPr lang="en-US" dirty="0" err="1">
                <a:solidFill>
                  <a:schemeClr val="bg1"/>
                </a:solidFill>
              </a:rPr>
              <a:t>Pârvulețu</a:t>
            </a:r>
            <a:r>
              <a:rPr lang="en-US" dirty="0">
                <a:solidFill>
                  <a:schemeClr val="bg1"/>
                </a:solidFill>
              </a:rPr>
              <a:t> Janina </a:t>
            </a:r>
          </a:p>
          <a:p>
            <a:r>
              <a:rPr lang="en-US" dirty="0" err="1">
                <a:solidFill>
                  <a:schemeClr val="bg1"/>
                </a:solidFill>
              </a:rPr>
              <a:t>Țermure</a:t>
            </a:r>
            <a:r>
              <a:rPr lang="en-US" dirty="0">
                <a:solidFill>
                  <a:schemeClr val="bg1"/>
                </a:solidFill>
              </a:rPr>
              <a:t> Madalina</a:t>
            </a:r>
          </a:p>
          <a:p>
            <a:r>
              <a:rPr lang="en-US" dirty="0" err="1">
                <a:solidFill>
                  <a:schemeClr val="bg1"/>
                </a:solidFill>
              </a:rPr>
              <a:t>Vârtaci</a:t>
            </a:r>
            <a:r>
              <a:rPr lang="en-US" dirty="0">
                <a:solidFill>
                  <a:schemeClr val="bg1"/>
                </a:solidFill>
              </a:rPr>
              <a:t> Ruxandra</a:t>
            </a:r>
          </a:p>
          <a:p>
            <a:r>
              <a:rPr lang="en-US" dirty="0" err="1">
                <a:solidFill>
                  <a:schemeClr val="bg1"/>
                </a:solidFill>
              </a:rPr>
              <a:t>Boldișor</a:t>
            </a:r>
            <a:r>
              <a:rPr lang="en-US" dirty="0">
                <a:solidFill>
                  <a:schemeClr val="bg1"/>
                </a:solidFill>
              </a:rPr>
              <a:t> Maria</a:t>
            </a:r>
          </a:p>
          <a:p>
            <a:r>
              <a:rPr lang="en-US" dirty="0">
                <a:solidFill>
                  <a:schemeClr val="bg1"/>
                </a:solidFill>
              </a:rPr>
              <a:t>Enache Emma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47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VRIDER · HACKATHON 2026 · OPENING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594359"/>
            <a:ext cx="3474720" cy="3730133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HOW WE MOTIVATE OURSELVES?</a:t>
            </a:r>
          </a:p>
          <a:p>
            <a:r>
              <a:rPr lang="en-US" dirty="0">
                <a:solidFill>
                  <a:schemeClr val="bg1"/>
                </a:solidFill>
              </a:rPr>
              <a:t>AND CHILDREN?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551733"/>
            <a:ext cx="2743200" cy="1188720"/>
          </a:xfrm>
          <a:prstGeom prst="rect">
            <a:avLst/>
          </a:prstGeom>
          <a:solidFill>
            <a:srgbClr val="1A1F5E"/>
          </a:solidFill>
          <a:ln w="63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75895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12280" y="685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see you exercising?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2011680"/>
            <a:ext cx="2743200" cy="1188720"/>
          </a:xfrm>
          <a:prstGeom prst="rect">
            <a:avLst/>
          </a:prstGeom>
          <a:solidFill>
            <a:srgbClr val="1A2F40"/>
          </a:solidFill>
          <a:ln w="63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1762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21031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have a reason to start?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3429000"/>
            <a:ext cx="2743200" cy="1188720"/>
          </a:xfrm>
          <a:prstGeom prst="rect">
            <a:avLst/>
          </a:prstGeom>
          <a:solidFill>
            <a:srgbClr val="1A1F3A"/>
          </a:solidFill>
          <a:ln w="63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59359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12280" y="35204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 clinic visit motivate them?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4434840"/>
            <a:ext cx="3474720" cy="411480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57200" y="4434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an answer  →  VRider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· PRODUCT DESCRIPTION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VRider — Endless Runner Exergame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endless runner game played on a stationary bike.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Pedaling cadence (RPM)</a:t>
            </a: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 controls the avatar’s speed. Heart rate — captured via the bike’s sensor — modulates the game world in real time.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1920240" cy="1005840"/>
          </a:xfrm>
          <a:prstGeom prst="rect">
            <a:avLst/>
          </a:prstGeom>
          <a:solidFill>
            <a:srgbClr val="1F2937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060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578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→ speed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Pedal faster = run faster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60320" y="2487168"/>
            <a:ext cx="1920240" cy="1005840"/>
          </a:xfrm>
          <a:prstGeom prst="rect">
            <a:avLst/>
          </a:prstGeom>
          <a:solidFill>
            <a:srgbClr val="1F2937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26060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2578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monitoring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01752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sensor feeds game engine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63440" y="2487168"/>
            <a:ext cx="1920240" cy="1005840"/>
          </a:xfrm>
          <a:prstGeom prst="rect">
            <a:avLst/>
          </a:prstGeom>
          <a:solidFill>
            <a:srgbClr val="1F2937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6060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578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racing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2064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Fixed-speed rivals to beat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766560" y="2487168"/>
            <a:ext cx="1920240" cy="1005840"/>
          </a:xfrm>
          <a:prstGeom prst="rect">
            <a:avLst/>
          </a:prstGeom>
          <a:solidFill>
            <a:srgbClr val="1F2937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88" y="260604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2578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22376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Anonymous, self-competitive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57200" y="36393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PROTOCOL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457200" y="3840480"/>
            <a:ext cx="1572768" cy="914400"/>
          </a:xfrm>
          <a:prstGeom prst="rect">
            <a:avLst/>
          </a:prstGeom>
          <a:solidFill>
            <a:srgbClr val="4C51BF">
              <a:alpha val="20000"/>
            </a:srgbClr>
          </a:solidFill>
          <a:ln w="15240">
            <a:solidFill>
              <a:srgbClr val="4C51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57200" y="38587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C5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415137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 RPM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57200" y="43525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2139696" y="3840480"/>
            <a:ext cx="1572768" cy="914400"/>
          </a:xfrm>
          <a:prstGeom prst="rect">
            <a:avLst/>
          </a:prstGeom>
          <a:solidFill>
            <a:srgbClr val="0D9488">
              <a:alpha val="20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2139696" y="38587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2139696" y="415137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40–55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2139696" y="43525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30s–2m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822192" y="3840480"/>
            <a:ext cx="1572768" cy="914400"/>
          </a:xfrm>
          <a:prstGeom prst="rect">
            <a:avLst/>
          </a:prstGeom>
          <a:solidFill>
            <a:srgbClr val="D97706">
              <a:alpha val="20000"/>
            </a:srgbClr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3822192" y="38587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3822192" y="415137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65–85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3822192" y="43525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2–6m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504688" y="3840480"/>
            <a:ext cx="1572768" cy="914400"/>
          </a:xfrm>
          <a:prstGeom prst="rect">
            <a:avLst/>
          </a:prstGeom>
          <a:solidFill>
            <a:srgbClr val="2563EB">
              <a:alpha val="20000"/>
            </a:srgbClr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5504688" y="38587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5504688" y="415137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40–55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504688" y="43525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6–8m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7187184" y="3840480"/>
            <a:ext cx="1572768" cy="914400"/>
          </a:xfrm>
          <a:prstGeom prst="rect">
            <a:avLst/>
          </a:prstGeom>
          <a:solidFill>
            <a:srgbClr val="059669">
              <a:alpha val="20000"/>
            </a:srgbClr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7187184" y="38587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7187184" y="415137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 RPM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7187184" y="43525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8–9m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4754880" y="1170432"/>
            <a:ext cx="4206240" cy="1234440"/>
          </a:xfrm>
          <a:prstGeom prst="rect">
            <a:avLst/>
          </a:prstGeom>
          <a:solidFill>
            <a:srgbClr val="1A1F5E">
              <a:alpha val="7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4846320" y="12161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4846320" y="144475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never sees "heart rate 178 bpm." They see "your engine is at full power!" — clinical data remains exclusively for medical staff.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5C2771-C2CA-CA08-E2D9-1351BF0F7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050" y="0"/>
            <a:ext cx="41739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7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· WHY GAMIFICATION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Behind VRider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8872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892040" y="1188720"/>
            <a:ext cx="4023360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8988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94960" y="12801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JMIR Meta-Analysis 2025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394960" y="153619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RCTs · 7,472 children aged 6–18. Gamification significantly increased moderate-to-vigorous physical activity (p=0.04).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892040" y="2212848"/>
            <a:ext cx="4023360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41401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94960" y="230428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Birmingham 2021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394960" y="25603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Exergames in PE classes improved not only fitness levels but also attitudes, emotions &amp; long-term motivation toward exercise.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892040" y="3236976"/>
            <a:ext cx="4023360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438144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94960" y="332841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et al., 2023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5394960" y="358444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who associate exercise with positive emotion are 3× more likely to remain physically active in adulthood.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892040" y="4279392"/>
            <a:ext cx="4023360" cy="566928"/>
          </a:xfrm>
          <a:prstGeom prst="rect">
            <a:avLst/>
          </a:prstGeom>
          <a:solidFill>
            <a:srgbClr val="1A1F5E">
              <a:alpha val="60000"/>
            </a:srgbClr>
          </a:solidFill>
          <a:ln w="63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4937760" y="429768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potential: 500–2,000 children/school-year  ·  Protocol compliance: ↑3× vs clinical treadmill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Wang et al., JMIR Serious Games 2025 (meta-analysis, 16 RCTs, n=7,472) · Univ. Birmingham, Phys. Education &amp; Sport Pedagogy, 2021 · Morgan et al., medRxiv 2023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 · WHY THIS MATTERS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Pedal at a Time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VRider is not just a game. It’s a trojan horse for preventive pediatric cardiology — disguised as entertainment.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023360" cy="1207008"/>
          </a:xfrm>
          <a:prstGeom prst="rect">
            <a:avLst/>
          </a:prstGeom>
          <a:solidFill>
            <a:srgbClr val="111827"/>
          </a:solidFill>
          <a:ln w="1016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8470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773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20756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at age 11 can reveal latent cardiac issues before they become emergencies in adulthood.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664208"/>
            <a:ext cx="4023360" cy="1207008"/>
          </a:xfrm>
          <a:prstGeom prst="rect">
            <a:avLst/>
          </a:prstGeom>
          <a:solidFill>
            <a:srgbClr val="111827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84708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773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Data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49240" y="20756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of pediatric exertion profiles from ages 11–16 would be clinically unprecedented.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035808"/>
            <a:ext cx="4023360" cy="1207008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21868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145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Anchoring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51560" y="34472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who associate exercise with positive emotion are 3× more likely to stay active as adults.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54880" y="3035808"/>
            <a:ext cx="4023360" cy="1207008"/>
          </a:xfrm>
          <a:prstGeom prst="rect">
            <a:avLst/>
          </a:prstGeom>
          <a:solidFill>
            <a:srgbClr val="111827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21868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3145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349240" y="34472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Childhood obesity costs $14B/year in direct healthcare. Prevention at scale could save billions.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57200" y="4544568"/>
            <a:ext cx="8321040" cy="384048"/>
          </a:xfrm>
          <a:prstGeom prst="rect">
            <a:avLst/>
          </a:prstGeom>
          <a:solidFill>
            <a:srgbClr val="1F2937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548640" y="45628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WHO 2024 · Guthold et al. Lancet 2019 · Physical Activity Alliance 2024 · Wang et al. JMIR 2025 · Morgan et al. 2023 · Georgetown Health Policy Institute · Cleveland Clinic 2024 · DemandSage 2024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WhatsApp Video 2026-06-07 at 10.26.45">
            <a:hlinkClick r:id="" action="ppaction://media"/>
            <a:extLst>
              <a:ext uri="{FF2B5EF4-FFF2-40B4-BE49-F238E27FC236}">
                <a16:creationId xmlns:a16="http://schemas.microsoft.com/office/drawing/2014/main" id="{C9BFF856-3374-1219-93FD-0443394995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2082" y="-148808"/>
            <a:ext cx="788276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404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9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Heart Rate Meets High Score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gamified cardiac stress test, built for children,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only "score" that matters is a healthy heart.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teens fail WHO activity target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game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makes the test feel like play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03504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lives changed early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794760"/>
            <a:ext cx="6400800" cy="822960"/>
          </a:xfrm>
          <a:prstGeom prst="rect">
            <a:avLst/>
          </a:prstGeom>
          <a:solidFill>
            <a:srgbClr val="0A0B0F">
              <a:alpha val="6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63040" y="38404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 child learns to love the feeling of physical achievement before they're old enough to fear a doctor's office, we've already won."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06E08A-034E-32E5-96F0-BE2A62A56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3F34AA-F5DA-787D-CE58-1C6204961CF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8E3294-E063-F1A5-CF85-771A84ED1786}"/>
              </a:ext>
            </a:extLst>
          </p:cNvPr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VRIDER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972442-E849-DAAD-E4CB-6D99BDFBBD73}"/>
              </a:ext>
            </a:extLst>
          </p:cNvPr>
          <p:cNvSpPr/>
          <p:nvPr/>
        </p:nvSpPr>
        <p:spPr>
          <a:xfrm>
            <a:off x="457200" y="1787377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5C05CDD-3FD3-55E0-CBF9-ADC71BB4D9D4}"/>
              </a:ext>
            </a:extLst>
          </p:cNvPr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45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2846</TotalTime>
  <Words>566</Words>
  <Application>Microsoft Office PowerPoint</Application>
  <PresentationFormat>On-screen Show (16:9)</PresentationFormat>
  <Paragraphs>88</Paragraphs>
  <Slides>9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VRider — Hackathon 2025</dc:title>
  <dc:subject>PptxGenJS Presentation</dc:subject>
  <dc:creator>VRider Team</dc:creator>
  <cp:lastModifiedBy>Andreea Dancea</cp:lastModifiedBy>
  <cp:revision>6</cp:revision>
  <dcterms:created xsi:type="dcterms:W3CDTF">2026-06-06T23:24:58Z</dcterms:created>
  <dcterms:modified xsi:type="dcterms:W3CDTF">2026-06-09T07:49:36Z</dcterms:modified>
</cp:coreProperties>
</file>